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8"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6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4816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diving deep into operating system internals to introduce Kernel Sentinel, a real-time auditing and monitoring engine designed to provide unprecedented visibility into system behavior.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operating systems are incredibly complex. For most developers and even administrators, they act as a 'black box.' This makes it extremely difficult to understand what's truly happening under the hood, leading to challenges in performance tuning and, more critically, in detecting sophisticated security threats that exploit core OS behaviors.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1684-5A71-6A72-85DE-F70AA5DA4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19752-ECF8-6A72-87BD-D7282F131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F9118-EEDC-EECB-3EBA-7ED9F84DA23A}"/>
              </a:ext>
            </a:extLst>
          </p:cNvPr>
          <p:cNvSpPr>
            <a:spLocks noGrp="1"/>
          </p:cNvSpPr>
          <p:nvPr>
            <p:ph type="body" idx="1"/>
          </p:nvPr>
        </p:nvSpPr>
        <p:spPr/>
        <p:txBody>
          <a:bodyPr/>
          <a:lstStyle/>
          <a:p>
            <a:r>
              <a:rPr lang="en-US" dirty="0"/>
              <a:t>Modern operating systems are incredibly complex. For most developers and even administrators, they act as a 'black box.' This makes it extremely difficult to understand what's truly happening under the hood, leading to challenges in performance tuning and, more critically, in detecting sophisticated security threats that exploit core OS behaviors.</a:t>
            </a:r>
          </a:p>
        </p:txBody>
      </p:sp>
      <p:sp>
        <p:nvSpPr>
          <p:cNvPr id="4" name="Slide Number Placeholder 3">
            <a:extLst>
              <a:ext uri="{FF2B5EF4-FFF2-40B4-BE49-F238E27FC236}">
                <a16:creationId xmlns:a16="http://schemas.microsoft.com/office/drawing/2014/main" id="{19A73AE4-3344-818E-17A4-F0690F8836A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643022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Sentinel is our solution. It's not just another monitoring tool; it's a diagnostic engine that attaches directly to processes to act as a flight recorder for the kernel. By intercepting system calls, we can analyze behavior at the most fundamental level and detect malicious patterns as they happen.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decoupled, two-process design. The 'Observer' is the engine that uses ptrace to hook into a target process. It analyzes syscalls and sends structured events. The 'Dashboard' is a separate process that receives these events through a high-speed IPC channel—a Named Pipe. This separation ensures that the monitoring UI doesn't impact the performance of the tracing engine.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step-by-step look at our data pipeline. This entire flow is designed for low latency and high throughput. The use of a ring buffer with semaphores and mutexes is key to solving the classic Producer-Consumer problem, ensuring the UI remains responsive even under a high volume of system events.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Observer is the heart of Kernel Sentinel. It's a lean, efficient C program responsible for the actual tracing. Its most critical feature is the rate-tracking logic, which allows it to distinguish between normal system activity and the rapid, repetitive patterns characteristic of an attack.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where we apply concurrency concepts. By separating the data ingestion from the UI rendering, we ensure the display never freezes. The ring buffer acts as a crucial, synchronized shared memory space between these two threads, preventing race conditions and data corruption.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practical application of fundamental operating system concepts. We used pure C to get as close to the kernel as possible. The core of the project demonstrates a mastery of process tracing, inter-process communication, and safe, concurrent programming.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how this works in practice. In a live demo, we run the dashboard and the attack script in separate terminals. As soon as the observer attaches, you would see the fork count on the dashboard spike, triggering a critical alert in the stream, demonstrating our real-time detection capability.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successfully met all its objectives. We have a working tool that can see what the OS is doing and react to threats. More importantly, it serves as a powerful validation of theoretical OS concepts, proving their importance in building robust, high-performance systems.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an academic project, Kernel Sentinel has real-world applications. Its principles are used in professional cybersecurity tools like Endpoint Detection and Response systems. It's also invaluable for performance engineers and developers who need to debug complex, low-level software.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Kernel Sentinel successfully demonstrates the power of low-level system programming for observability and security. Looking ahead, we could expand its capabilities significantly, perhaps by adding network monitoring or a more sophisticated GUI, turning this powerful engine into a full-fledged professional tool.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p:spPr>
      </p:sp>
      <p:sp>
        <p:nvSpPr>
          <p:cNvPr id="3" name="Text 1"/>
          <p:cNvSpPr/>
          <p:nvPr/>
        </p:nvSpPr>
        <p:spPr>
          <a:xfrm>
            <a:off x="457200" y="137160"/>
            <a:ext cx="4572000" cy="457200"/>
          </a:xfrm>
          <a:prstGeom prst="rect">
            <a:avLst/>
          </a:prstGeom>
          <a:noFill/>
          <a:ln/>
        </p:spPr>
        <p:txBody>
          <a:bodyPr wrap="square" rtlCol="0" anchor="ctr"/>
          <a:lstStyle/>
          <a:p>
            <a:pPr marL="0" indent="0">
              <a:buNone/>
            </a:pPr>
            <a:r>
              <a:rPr lang="en-US" sz="1400" dirty="0">
                <a:solidFill>
                  <a:srgbClr val="FFFFFF"/>
                </a:solidFill>
                <a:latin typeface="Arial" pitchFamily="34" charset="0"/>
                <a:ea typeface="Arial" pitchFamily="34" charset="-122"/>
                <a:cs typeface="Arial" pitchFamily="34" charset="-120"/>
              </a:rPr>
              <a:t>Project Presentation</a:t>
            </a:r>
            <a:endParaRPr lang="en-US" sz="1400" dirty="0"/>
          </a:p>
        </p:txBody>
      </p:sp>
      <p:sp>
        <p:nvSpPr>
          <p:cNvPr id="4" name="Text 2"/>
          <p:cNvSpPr/>
          <p:nvPr/>
        </p:nvSpPr>
        <p:spPr>
          <a:xfrm>
            <a:off x="7315200" y="4732020"/>
            <a:ext cx="1828800" cy="457200"/>
          </a:xfrm>
          <a:prstGeom prst="rect">
            <a:avLst/>
          </a:prstGeom>
          <a:noFill/>
          <a:ln/>
        </p:spPr>
        <p:txBody>
          <a:bodyPr wrap="square" rtlCol="0" anchor="ctr"/>
          <a:lstStyle/>
          <a:p>
            <a:pPr marL="0" indent="0" algn="r">
              <a:buNone/>
            </a:pPr>
            <a:r>
              <a:rPr lang="en-US" sz="1000" dirty="0">
                <a:solidFill>
                  <a:srgbClr val="94A3B8"/>
                </a:solidFill>
              </a:rPr>
              <a:t>Generated by AutoPPTX</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3" name="Text 0"/>
          <p:cNvSpPr/>
          <p:nvPr/>
        </p:nvSpPr>
        <p:spPr>
          <a:xfrm>
            <a:off x="914400" y="2286000"/>
            <a:ext cx="7315200" cy="137160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Kernel Sentinel: A High-Performance System Auditing &amp; Monitoring Engine</a:t>
            </a:r>
            <a:endParaRPr lang="en-US" sz="4400" dirty="0"/>
          </a:p>
        </p:txBody>
      </p:sp>
      <p:sp>
        <p:nvSpPr>
          <p:cNvPr id="2" name="Rectangle 1">
            <a:extLst>
              <a:ext uri="{FF2B5EF4-FFF2-40B4-BE49-F238E27FC236}">
                <a16:creationId xmlns:a16="http://schemas.microsoft.com/office/drawing/2014/main" id="{274E4703-1808-0907-160E-545504DB711D}"/>
              </a:ext>
            </a:extLst>
          </p:cNvPr>
          <p:cNvSpPr/>
          <p:nvPr/>
        </p:nvSpPr>
        <p:spPr>
          <a:xfrm>
            <a:off x="7403522" y="4779818"/>
            <a:ext cx="1813214" cy="36368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Group Members</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a:lnSpc>
                <a:spcPts val="3200"/>
              </a:lnSpc>
              <a:buSzPct val="100000"/>
            </a:pPr>
            <a:endParaRPr lang="en-US" sz="2000" dirty="0"/>
          </a:p>
        </p:txBody>
      </p:sp>
      <p:sp>
        <p:nvSpPr>
          <p:cNvPr id="2" name="Rectangle 1">
            <a:extLst>
              <a:ext uri="{FF2B5EF4-FFF2-40B4-BE49-F238E27FC236}">
                <a16:creationId xmlns:a16="http://schemas.microsoft.com/office/drawing/2014/main" id="{016B968E-C736-C61B-031E-5F6E7D05B437}"/>
              </a:ext>
            </a:extLst>
          </p:cNvPr>
          <p:cNvSpPr/>
          <p:nvPr/>
        </p:nvSpPr>
        <p:spPr>
          <a:xfrm>
            <a:off x="7356762" y="4623954"/>
            <a:ext cx="1787237" cy="5195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EAE79259-C09D-B354-5D0D-7B18A6C954D7}"/>
              </a:ext>
            </a:extLst>
          </p:cNvPr>
          <p:cNvGraphicFramePr>
            <a:graphicFrameLocks noGrp="1"/>
          </p:cNvGraphicFramePr>
          <p:nvPr>
            <p:extLst>
              <p:ext uri="{D42A27DB-BD31-4B8C-83A1-F6EECF244321}">
                <p14:modId xmlns:p14="http://schemas.microsoft.com/office/powerpoint/2010/main" val="3800723984"/>
              </p:ext>
            </p:extLst>
          </p:nvPr>
        </p:nvGraphicFramePr>
        <p:xfrm>
          <a:off x="1440872" y="1905693"/>
          <a:ext cx="6096000" cy="17526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74765459"/>
                    </a:ext>
                  </a:extLst>
                </a:gridCol>
                <a:gridCol w="3048000">
                  <a:extLst>
                    <a:ext uri="{9D8B030D-6E8A-4147-A177-3AD203B41FA5}">
                      <a16:colId xmlns:a16="http://schemas.microsoft.com/office/drawing/2014/main" val="2653606724"/>
                    </a:ext>
                  </a:extLst>
                </a:gridCol>
              </a:tblGrid>
              <a:tr h="370840">
                <a:tc>
                  <a:txBody>
                    <a:bodyPr/>
                    <a:lstStyle/>
                    <a:p>
                      <a:r>
                        <a:rPr lang="en-US" dirty="0"/>
                        <a:t>Student</a:t>
                      </a:r>
                    </a:p>
                  </a:txBody>
                  <a:tcPr/>
                </a:tc>
                <a:tc>
                  <a:txBody>
                    <a:bodyPr/>
                    <a:lstStyle/>
                    <a:p>
                      <a:r>
                        <a:rPr lang="en-US" dirty="0"/>
                        <a:t>Registration number</a:t>
                      </a:r>
                    </a:p>
                  </a:txBody>
                  <a:tcPr/>
                </a:tc>
                <a:extLst>
                  <a:ext uri="{0D108BD9-81ED-4DB2-BD59-A6C34878D82A}">
                    <a16:rowId xmlns:a16="http://schemas.microsoft.com/office/drawing/2014/main" val="3265286260"/>
                  </a:ext>
                </a:extLst>
              </a:tr>
              <a:tr h="370840">
                <a:tc>
                  <a:txBody>
                    <a:bodyPr/>
                    <a:lstStyle/>
                    <a:p>
                      <a:r>
                        <a:rPr lang="en-US" dirty="0"/>
                        <a:t>Rayyan Mustafa</a:t>
                      </a:r>
                    </a:p>
                  </a:txBody>
                  <a:tcPr/>
                </a:tc>
                <a:tc>
                  <a:txBody>
                    <a:bodyPr/>
                    <a:lstStyle/>
                    <a:p>
                      <a:r>
                        <a:rPr lang="en-US" dirty="0"/>
                        <a:t>2312335</a:t>
                      </a:r>
                    </a:p>
                  </a:txBody>
                  <a:tcPr/>
                </a:tc>
                <a:extLst>
                  <a:ext uri="{0D108BD9-81ED-4DB2-BD59-A6C34878D82A}">
                    <a16:rowId xmlns:a16="http://schemas.microsoft.com/office/drawing/2014/main" val="4254687248"/>
                  </a:ext>
                </a:extLst>
              </a:tr>
              <a:tr h="370840">
                <a:tc>
                  <a:txBody>
                    <a:bodyPr/>
                    <a:lstStyle/>
                    <a:p>
                      <a:r>
                        <a:rPr lang="en-US" dirty="0"/>
                        <a:t>Aaqib </a:t>
                      </a:r>
                    </a:p>
                  </a:txBody>
                  <a:tcPr/>
                </a:tc>
                <a:tc>
                  <a:txBody>
                    <a:bodyPr/>
                    <a:lstStyle/>
                    <a:p>
                      <a:r>
                        <a:rPr lang="en-US" dirty="0"/>
                        <a:t>2312468</a:t>
                      </a:r>
                    </a:p>
                  </a:txBody>
                  <a:tcPr/>
                </a:tc>
                <a:extLst>
                  <a:ext uri="{0D108BD9-81ED-4DB2-BD59-A6C34878D82A}">
                    <a16:rowId xmlns:a16="http://schemas.microsoft.com/office/drawing/2014/main" val="2422191825"/>
                  </a:ext>
                </a:extLst>
              </a:tr>
              <a:tr h="370840">
                <a:tc>
                  <a:txBody>
                    <a:bodyPr/>
                    <a:lstStyle/>
                    <a:p>
                      <a:r>
                        <a:rPr lang="en-US" dirty="0"/>
                        <a:t>Najam Uddin </a:t>
                      </a:r>
                      <a:r>
                        <a:rPr lang="en-US" dirty="0" err="1" smtClean="0"/>
                        <a:t>Chandio</a:t>
                      </a:r>
                      <a:endParaRPr lang="en-US" dirty="0"/>
                    </a:p>
                    <a:p>
                      <a:r>
                        <a:rPr lang="en-US" dirty="0" err="1" smtClean="0"/>
                        <a:t>Umair</a:t>
                      </a:r>
                      <a:endParaRPr lang="en-US" dirty="0" smtClean="0"/>
                    </a:p>
                  </a:txBody>
                  <a:tcPr/>
                </a:tc>
                <a:tc>
                  <a:txBody>
                    <a:bodyPr/>
                    <a:lstStyle/>
                    <a:p>
                      <a:r>
                        <a:rPr lang="en-US" dirty="0" smtClean="0"/>
                        <a:t>23108133</a:t>
                      </a:r>
                    </a:p>
                    <a:p>
                      <a:r>
                        <a:rPr lang="en-US" smtClean="0"/>
                        <a:t>2312341</a:t>
                      </a:r>
                      <a:endParaRPr lang="en-US" dirty="0"/>
                    </a:p>
                  </a:txBody>
                  <a:tcPr/>
                </a:tc>
                <a:extLst>
                  <a:ext uri="{0D108BD9-81ED-4DB2-BD59-A6C34878D82A}">
                    <a16:rowId xmlns:a16="http://schemas.microsoft.com/office/drawing/2014/main" val="373064197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3CC02-6B32-ED0D-853C-0872C66D9CF0}"/>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04CF555-9C91-5601-E6F0-CF2FE0ED89AA}"/>
              </a:ext>
            </a:extLst>
          </p:cNvPr>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The Problem: The "Black Box" Operating System</a:t>
            </a:r>
            <a:endParaRPr lang="en-US" sz="3200" dirty="0"/>
          </a:p>
        </p:txBody>
      </p:sp>
      <p:sp>
        <p:nvSpPr>
          <p:cNvPr id="4" name="Text 1">
            <a:extLst>
              <a:ext uri="{FF2B5EF4-FFF2-40B4-BE49-F238E27FC236}">
                <a16:creationId xmlns:a16="http://schemas.microsoft.com/office/drawing/2014/main" id="{FFBAAF51-21E3-4358-F100-26A6DD840CC5}"/>
              </a:ext>
            </a:extLst>
          </p:cNvPr>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Lack of visibility into low-level OS operations.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Difficulty in diagnosing performance bottlenecks and resource contention.</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Traditional tools operate too far from the kernel.</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Vulnerability to resource exhaustion attacks (e.g., Fork Bombs).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Stealthy malicious activities like ransomware file I/O are hard to detect in real-time.</a:t>
            </a:r>
            <a:endParaRPr lang="en-US" sz="2000" dirty="0"/>
          </a:p>
        </p:txBody>
      </p:sp>
      <p:sp>
        <p:nvSpPr>
          <p:cNvPr id="2" name="Rectangle 1">
            <a:extLst>
              <a:ext uri="{FF2B5EF4-FFF2-40B4-BE49-F238E27FC236}">
                <a16:creationId xmlns:a16="http://schemas.microsoft.com/office/drawing/2014/main" id="{95081F08-B090-8E5B-403B-E52DEFCAA194}"/>
              </a:ext>
            </a:extLst>
          </p:cNvPr>
          <p:cNvSpPr/>
          <p:nvPr/>
        </p:nvSpPr>
        <p:spPr>
          <a:xfrm>
            <a:off x="7356762" y="4623954"/>
            <a:ext cx="1787237" cy="5195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998791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Our Solution: Kernel Sentinel</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A low-level 'flight recorder' for the Linux kernel.</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Directly intercepts and analyzes system calls using `</a:t>
            </a:r>
            <a:r>
              <a:rPr lang="en-US" sz="2000" dirty="0" err="1">
                <a:solidFill>
                  <a:srgbClr val="334155"/>
                </a:solidFill>
                <a:latin typeface="Arial" pitchFamily="34" charset="0"/>
                <a:ea typeface="Arial" pitchFamily="34" charset="-122"/>
                <a:cs typeface="Arial" pitchFamily="34" charset="-120"/>
              </a:rPr>
              <a:t>ptrace</a:t>
            </a:r>
            <a:r>
              <a:rPr lang="en-US" sz="2000" dirty="0">
                <a:solidFill>
                  <a:srgbClr val="334155"/>
                </a:solidFill>
                <a:latin typeface="Arial" pitchFamily="34" charset="0"/>
                <a:ea typeface="Arial" pitchFamily="34" charset="-122"/>
                <a:cs typeface="Arial" pitchFamily="34" charset="-120"/>
              </a:rPr>
              <a:t>`.</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Proactively detects anomalies like fork bombs and mass file writes.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Provides real-time telemetry to a concurrent, non-blocking dashboard.</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Built to be thread-safe, deadlock-free, and high-performance.</a:t>
            </a:r>
            <a:endParaRPr lang="en-US" sz="2000" dirty="0"/>
          </a:p>
        </p:txBody>
      </p:sp>
      <p:sp>
        <p:nvSpPr>
          <p:cNvPr id="5" name="Rectangle 4">
            <a:extLst>
              <a:ext uri="{FF2B5EF4-FFF2-40B4-BE49-F238E27FC236}">
                <a16:creationId xmlns:a16="http://schemas.microsoft.com/office/drawing/2014/main" id="{D2DBE81B-532B-9A3B-FA54-A644053CD2DB}"/>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System Architecture</a:t>
            </a:r>
            <a:endParaRPr lang="en-US" sz="3200" dirty="0"/>
          </a:p>
        </p:txBody>
      </p:sp>
      <p:pic>
        <p:nvPicPr>
          <p:cNvPr id="4" name="Image 0" descr="preencoded.png"/>
          <p:cNvPicPr>
            <a:picLocks noChangeAspect="1"/>
          </p:cNvPicPr>
          <p:nvPr/>
        </p:nvPicPr>
        <p:blipFill>
          <a:blip r:embed="rId3"/>
          <a:srcRect/>
          <a:stretch/>
        </p:blipFill>
        <p:spPr>
          <a:xfrm>
            <a:off x="2285999" y="1474179"/>
            <a:ext cx="5226627" cy="3762839"/>
          </a:xfrm>
          <a:prstGeom prst="rect">
            <a:avLst/>
          </a:prstGeom>
        </p:spPr>
      </p:pic>
      <p:sp>
        <p:nvSpPr>
          <p:cNvPr id="2" name="Rectangle 1">
            <a:extLst>
              <a:ext uri="{FF2B5EF4-FFF2-40B4-BE49-F238E27FC236}">
                <a16:creationId xmlns:a16="http://schemas.microsoft.com/office/drawing/2014/main" id="{D646067B-F339-B2C4-9F08-9F586C01DFD0}"/>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The Monitoring &amp; IPC Pipeline</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Target process executes a system call (e.g., `fork()`).</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The `Observer` intercepts the call via `</a:t>
            </a:r>
            <a:r>
              <a:rPr lang="en-US" sz="2000" dirty="0" err="1">
                <a:solidFill>
                  <a:srgbClr val="334155"/>
                </a:solidFill>
                <a:latin typeface="Arial" pitchFamily="34" charset="0"/>
                <a:ea typeface="Arial" pitchFamily="34" charset="-122"/>
                <a:cs typeface="Arial" pitchFamily="34" charset="-120"/>
              </a:rPr>
              <a:t>ptrace</a:t>
            </a:r>
            <a:r>
              <a:rPr lang="en-US" sz="2000" dirty="0">
                <a:solidFill>
                  <a:srgbClr val="334155"/>
                </a:solidFill>
                <a:latin typeface="Arial" pitchFamily="34" charset="0"/>
                <a:ea typeface="Arial" pitchFamily="34" charset="-122"/>
                <a:cs typeface="Arial" pitchFamily="34" charset="-120"/>
              </a:rPr>
              <a:t>`.</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Event is classified, packaged, and sent through a Named Pipe (FIFO).</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The `Dashboard`'s producer thread reads from the pipe.Event is pushed to a thread-safe Ring Buffer (Producer-Consumer).</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The `Dashboard`'s render thread pops the event and updates the UI.</a:t>
            </a:r>
            <a:endParaRPr lang="en-US" sz="2000" dirty="0"/>
          </a:p>
        </p:txBody>
      </p:sp>
      <p:sp>
        <p:nvSpPr>
          <p:cNvPr id="2" name="Rectangle 1">
            <a:extLst>
              <a:ext uri="{FF2B5EF4-FFF2-40B4-BE49-F238E27FC236}">
                <a16:creationId xmlns:a16="http://schemas.microsoft.com/office/drawing/2014/main" id="{F2C7563B-935B-A451-C33F-E52870A72230}"/>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Key Component: The Observer Engine</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Core logic resides in `observer.c`.Utilizes `ptrace(PTRACE_SYSCALL)` to hook into target processes.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Maintains a rolling time window to track syscall frequency.</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Detects anomalies by comparing rates against predefined thresholds (e.g., `FORK_BOMB_THRESHOLD`).</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Serializes events and writes them to the IPC pipe.</a:t>
            </a:r>
            <a:endParaRPr lang="en-US" sz="2000" dirty="0"/>
          </a:p>
        </p:txBody>
      </p:sp>
      <p:sp>
        <p:nvSpPr>
          <p:cNvPr id="2" name="Rectangle 1">
            <a:extLst>
              <a:ext uri="{FF2B5EF4-FFF2-40B4-BE49-F238E27FC236}">
                <a16:creationId xmlns:a16="http://schemas.microsoft.com/office/drawing/2014/main" id="{C0F77A9B-4798-7C5A-452A-FB82B309FCF3}"/>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Key Component: The Concurrent Dashboard</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Core logic in `</a:t>
            </a:r>
            <a:r>
              <a:rPr lang="en-US" sz="2000" dirty="0" err="1">
                <a:solidFill>
                  <a:srgbClr val="334155"/>
                </a:solidFill>
                <a:latin typeface="Arial" pitchFamily="34" charset="0"/>
                <a:ea typeface="Arial" pitchFamily="34" charset="-122"/>
                <a:cs typeface="Arial" pitchFamily="34" charset="-120"/>
              </a:rPr>
              <a:t>dashboard.c</a:t>
            </a:r>
            <a:r>
              <a:rPr lang="en-US" sz="2000" dirty="0">
                <a:solidFill>
                  <a:srgbClr val="334155"/>
                </a:solidFill>
                <a:latin typeface="Arial" pitchFamily="34" charset="0"/>
                <a:ea typeface="Arial" pitchFamily="34" charset="-122"/>
                <a:cs typeface="Arial" pitchFamily="34" charset="-120"/>
              </a:rPr>
              <a:t>`.</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Multi-threaded design using POSIX Threads (pthreads).Producer thread reads from the pipe.</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Consumer thread renders the UI.</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Thread-safe Ring Buffer implemented with Mutexes and Semaphores. Pure ANSI terminal interface for a lightweight, dependency-free display.</a:t>
            </a:r>
            <a:endParaRPr lang="en-US" sz="2000" dirty="0"/>
          </a:p>
        </p:txBody>
      </p:sp>
      <p:sp>
        <p:nvSpPr>
          <p:cNvPr id="2" name="Rectangle 1">
            <a:extLst>
              <a:ext uri="{FF2B5EF4-FFF2-40B4-BE49-F238E27FC236}">
                <a16:creationId xmlns:a16="http://schemas.microsoft.com/office/drawing/2014/main" id="{AD8B59CF-3BEC-04E8-385C-AB7ADEB216EE}"/>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Core Technologies &amp; OS Concepts</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Language: C for low-level control.</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Tracing: </a:t>
            </a:r>
            <a:r>
              <a:rPr lang="en-US" sz="2000" dirty="0" err="1">
                <a:solidFill>
                  <a:srgbClr val="334155"/>
                </a:solidFill>
                <a:latin typeface="Arial" pitchFamily="34" charset="0"/>
                <a:ea typeface="Arial" pitchFamily="34" charset="-122"/>
                <a:cs typeface="Arial" pitchFamily="34" charset="-120"/>
              </a:rPr>
              <a:t>ptrace</a:t>
            </a:r>
            <a:r>
              <a:rPr lang="en-US" sz="2000" dirty="0">
                <a:solidFill>
                  <a:srgbClr val="334155"/>
                </a:solidFill>
                <a:latin typeface="Arial" pitchFamily="34" charset="0"/>
                <a:ea typeface="Arial" pitchFamily="34" charset="-122"/>
                <a:cs typeface="Arial" pitchFamily="34" charset="-120"/>
              </a:rPr>
              <a:t>` for system call interception.</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Concurrency: POSIX Threads (</a:t>
            </a:r>
            <a:r>
              <a:rPr lang="en-US" sz="2000" dirty="0" err="1">
                <a:solidFill>
                  <a:srgbClr val="334155"/>
                </a:solidFill>
                <a:latin typeface="Arial" pitchFamily="34" charset="0"/>
                <a:ea typeface="Arial" pitchFamily="34" charset="-122"/>
                <a:cs typeface="Arial" pitchFamily="34" charset="-120"/>
              </a:rPr>
              <a:t>pthreads</a:t>
            </a:r>
            <a:r>
              <a:rPr lang="en-US" sz="2000" dirty="0">
                <a:solidFill>
                  <a:srgbClr val="334155"/>
                </a:solidFill>
                <a:latin typeface="Arial" pitchFamily="34" charset="0"/>
                <a:ea typeface="Arial" pitchFamily="34" charset="-122"/>
                <a:cs typeface="Arial" pitchFamily="34" charset="-120"/>
              </a:rPr>
              <a:t>).</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Synchronization: Mutexes and Semaphores.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IPC: Named Pipes (</a:t>
            </a:r>
            <a:r>
              <a:rPr lang="en-US" sz="2000" dirty="0" err="1">
                <a:solidFill>
                  <a:srgbClr val="334155"/>
                </a:solidFill>
                <a:latin typeface="Arial" pitchFamily="34" charset="0"/>
                <a:ea typeface="Arial" pitchFamily="34" charset="-122"/>
                <a:cs typeface="Arial" pitchFamily="34" charset="-120"/>
              </a:rPr>
              <a:t>mkfifo</a:t>
            </a:r>
            <a:r>
              <a:rPr lang="en-US" sz="2000" dirty="0">
                <a:solidFill>
                  <a:srgbClr val="334155"/>
                </a:solidFill>
                <a:latin typeface="Arial" pitchFamily="34" charset="0"/>
                <a:ea typeface="Arial" pitchFamily="34" charset="-122"/>
                <a:cs typeface="Arial" pitchFamily="34" charset="-120"/>
              </a:rPr>
              <a:t>).</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Environment: Linux / Ubuntu (via WSL).</a:t>
            </a:r>
            <a:endParaRPr lang="en-US" sz="2000" dirty="0"/>
          </a:p>
        </p:txBody>
      </p:sp>
      <p:sp>
        <p:nvSpPr>
          <p:cNvPr id="2" name="Rectangle 1">
            <a:extLst>
              <a:ext uri="{FF2B5EF4-FFF2-40B4-BE49-F238E27FC236}">
                <a16:creationId xmlns:a16="http://schemas.microsoft.com/office/drawing/2014/main" id="{6B265C44-AFFB-FF1E-130F-F4747D824035}"/>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Live Demo: Detecting a Fork Bomb</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Step 1: Launch the `./bin/dashboard` in Terminal 1.</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Step 2: Launch the `./bin/attack_forkbomb` simulation in Terminal 2.</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Step 3: The `Observer` attaches to the attack process. Result: The Dashboard immediately displays a `CRITICAL` alert.The alert identifies the PID and the exact nature of the threat: 'FORK BOMB DETECTED'.</a:t>
            </a:r>
            <a:endParaRPr lang="en-US" sz="2000" dirty="0"/>
          </a:p>
        </p:txBody>
      </p:sp>
      <p:sp>
        <p:nvSpPr>
          <p:cNvPr id="2" name="Rectangle 1">
            <a:extLst>
              <a:ext uri="{FF2B5EF4-FFF2-40B4-BE49-F238E27FC236}">
                <a16:creationId xmlns:a16="http://schemas.microsoft.com/office/drawing/2014/main" id="{CEDF771A-1D75-6883-F763-645BD3C10642}"/>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Results &amp; Impact</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Successfully built a functional, low-latency monitoring tool.</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Demonstrated proactive detection of simulated system attacks.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Provided deep, real-time observability into kernel-level events.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Solved the Producer-Consumer problem in a real-world application.</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Validated strategies for thread synchronization and deadlock avoidance.</a:t>
            </a:r>
            <a:endParaRPr lang="en-US" sz="2000" dirty="0"/>
          </a:p>
        </p:txBody>
      </p:sp>
      <p:sp>
        <p:nvSpPr>
          <p:cNvPr id="2" name="Rectangle 1">
            <a:extLst>
              <a:ext uri="{FF2B5EF4-FFF2-40B4-BE49-F238E27FC236}">
                <a16:creationId xmlns:a16="http://schemas.microsoft.com/office/drawing/2014/main" id="{545CD90C-4383-C420-1344-A3D708C817D7}"/>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Real-World Significance</a:t>
            </a:r>
            <a:endParaRPr lang="en-US" sz="3200" dirty="0"/>
          </a:p>
        </p:txBody>
      </p:sp>
      <p:sp>
        <p:nvSpPr>
          <p:cNvPr id="4" name="Text 1"/>
          <p:cNvSpPr/>
          <p:nvPr/>
        </p:nvSpPr>
        <p:spPr>
          <a:xfrm>
            <a:off x="457200" y="1683326"/>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Cybersecurity: Foundation for an Intrusion Detection System (IDS) or Host-based EDR. </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System Monitoring: A powerful tool for performance profiling in Security Operations Centers (SOC).</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Debugging: Helps diagnose complex issues like deadlocks or resource starvation.</a:t>
            </a:r>
          </a:p>
        </p:txBody>
      </p:sp>
      <p:sp>
        <p:nvSpPr>
          <p:cNvPr id="2" name="Rectangle 1">
            <a:extLst>
              <a:ext uri="{FF2B5EF4-FFF2-40B4-BE49-F238E27FC236}">
                <a16:creationId xmlns:a16="http://schemas.microsoft.com/office/drawing/2014/main" id="{DF819C28-3690-9B32-BA65-FB4403A6372B}"/>
              </a:ext>
            </a:extLst>
          </p:cNvPr>
          <p:cNvSpPr/>
          <p:nvPr/>
        </p:nvSpPr>
        <p:spPr>
          <a:xfrm>
            <a:off x="7626927" y="4696691"/>
            <a:ext cx="1517073" cy="4468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Conclusion</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Conclusion: Kernel Sentinel is a reliable, thread-safe diagnostic tool that provides critical insights into OS behavior.</a:t>
            </a:r>
          </a:p>
        </p:txBody>
      </p:sp>
      <p:sp>
        <p:nvSpPr>
          <p:cNvPr id="2" name="Rectangle 1">
            <a:extLst>
              <a:ext uri="{FF2B5EF4-FFF2-40B4-BE49-F238E27FC236}">
                <a16:creationId xmlns:a16="http://schemas.microsoft.com/office/drawing/2014/main" id="{2100D835-7A9A-020F-49D4-D2457BA3D4BF}"/>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1253</Words>
  <Application>Microsoft Office PowerPoint</Application>
  <PresentationFormat>On-screen Show (16:9)</PresentationFormat>
  <Paragraphs>90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6</cp:revision>
  <dcterms:created xsi:type="dcterms:W3CDTF">2026-04-10T23:36:18Z</dcterms:created>
  <dcterms:modified xsi:type="dcterms:W3CDTF">2026-04-24T14:19:57Z</dcterms:modified>
</cp:coreProperties>
</file>