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8" r:id="rId4"/>
    <p:sldId id="258" r:id="rId5"/>
    <p:sldId id="263" r:id="rId6"/>
    <p:sldId id="264" r:id="rId7"/>
    <p:sldId id="265" r:id="rId8"/>
    <p:sldId id="266" r:id="rId9"/>
    <p:sldId id="267"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7" d="100"/>
          <a:sy n="97"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816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diving deep into operating system internals to introduce Kernel Sentinel, a real-time auditing and monitoring engine designed to provide unprecedented visibility into system behavior.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operating systems are incredibly complex. For most developers and even administrators, they act as a 'black box.' This makes it extremely difficult to understand what's truly happening under the hood, leading to challenges in performance tuning and, more critically, in detecting sophisticated security threats that exploit core OS behaviors.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1684-5A71-6A72-85DE-F70AA5DA4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19752-ECF8-6A72-87BD-D7282F131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F9118-EEDC-EECB-3EBA-7ED9F84DA23A}"/>
              </a:ext>
            </a:extLst>
          </p:cNvPr>
          <p:cNvSpPr>
            <a:spLocks noGrp="1"/>
          </p:cNvSpPr>
          <p:nvPr>
            <p:ph type="body" idx="1"/>
          </p:nvPr>
        </p:nvSpPr>
        <p:spPr/>
        <p:txBody>
          <a:bodyPr/>
          <a:lstStyle/>
          <a:p>
            <a:r>
              <a:rPr lang="en-US" dirty="0"/>
              <a:t>Modern operating systems are incredibly complex. For most developers and even administrators, they act as a 'black box.' This makes it extremely difficult to understand what's truly happening under the hood, leading to challenges in performance tuning and, more critically, in detecting sophisticated security threats that exploit core OS behaviors.</a:t>
            </a:r>
          </a:p>
        </p:txBody>
      </p:sp>
      <p:sp>
        <p:nvSpPr>
          <p:cNvPr id="4" name="Slide Number Placeholder 3">
            <a:extLst>
              <a:ext uri="{FF2B5EF4-FFF2-40B4-BE49-F238E27FC236}">
                <a16:creationId xmlns:a16="http://schemas.microsoft.com/office/drawing/2014/main" id="{19A73AE4-3344-818E-17A4-F0690F8836A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43022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Sentinel is our solution. It's not just another monitoring tool; it's a diagnostic engine that attaches directly to processes to act as a flight recorder for the kernel. By intercepting system calls, we can analyze behavior at the most fundamental level and detect malicious patterns as they happen.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practical application of fundamental operating system concepts. We used pure C to get as close to the kernel as possible. The core of the project demonstrates a mastery of process tracing, inter-process communication, and safe, concurrent programming.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this works in practice. In a live demo, we run the dashboard and the attack script in separate terminals. As soon as the observer attaches, you would see the fork count on the dashboard spike, triggering a critical alert in the stream, demonstrating our real-time detection capability.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successfully met all its objectives. We have a working tool that can see what the OS is doing and react to threats. More importantly, it serves as a powerful validation of theoretical OS concepts, proving their importance in building robust, high-performance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an academic project, Kernel Sentinel has real-world applications. Its principles are used in professional cybersecurity tools like Endpoint Detection and Response systems. It's also invaluable for performance engineers and developers who need to debug complex, low-level software.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Kernel Sentinel successfully demonstrates the power of low-level system programming for observability and security. Looking ahead, we could expand its capabilities significantly, perhaps by adding network monitoring or a more sophisticated GUI, turning this powerful engine into a full-fledged professional tool.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p:spPr>
      </p:sp>
      <p:sp>
        <p:nvSpPr>
          <p:cNvPr id="3" name="Text 1"/>
          <p:cNvSpPr/>
          <p:nvPr/>
        </p:nvSpPr>
        <p:spPr>
          <a:xfrm>
            <a:off x="457200" y="137160"/>
            <a:ext cx="4572000" cy="457200"/>
          </a:xfrm>
          <a:prstGeom prst="rect">
            <a:avLst/>
          </a:prstGeom>
          <a:noFill/>
          <a:ln/>
        </p:spPr>
        <p:txBody>
          <a:bodyPr wrap="square" rtlCol="0" anchor="ctr"/>
          <a:lstStyle/>
          <a:p>
            <a:pPr marL="0" indent="0">
              <a:buNone/>
            </a:pPr>
            <a:r>
              <a:rPr lang="en-US" sz="1400" dirty="0">
                <a:solidFill>
                  <a:srgbClr val="FFFFFF"/>
                </a:solidFill>
                <a:latin typeface="Arial" pitchFamily="34" charset="0"/>
                <a:ea typeface="Arial" pitchFamily="34" charset="-122"/>
                <a:cs typeface="Arial" pitchFamily="34" charset="-120"/>
              </a:rPr>
              <a:t>Project Presentation</a:t>
            </a:r>
            <a:endParaRPr lang="en-US" sz="1400" dirty="0"/>
          </a:p>
        </p:txBody>
      </p:sp>
      <p:sp>
        <p:nvSpPr>
          <p:cNvPr id="4" name="Text 2"/>
          <p:cNvSpPr/>
          <p:nvPr/>
        </p:nvSpPr>
        <p:spPr>
          <a:xfrm>
            <a:off x="7315200" y="4732020"/>
            <a:ext cx="1828800" cy="457200"/>
          </a:xfrm>
          <a:prstGeom prst="rect">
            <a:avLst/>
          </a:prstGeom>
          <a:noFill/>
          <a:ln/>
        </p:spPr>
        <p:txBody>
          <a:bodyPr wrap="square" rtlCol="0" anchor="ctr"/>
          <a:lstStyle/>
          <a:p>
            <a:pPr marL="0" indent="0" algn="r">
              <a:buNone/>
            </a:pPr>
            <a:r>
              <a:rPr lang="en-US" sz="1000" dirty="0">
                <a:solidFill>
                  <a:srgbClr val="94A3B8"/>
                </a:solidFill>
              </a:rPr>
              <a:t>Generated by AutoPPTX</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3" name="Text 0"/>
          <p:cNvSpPr/>
          <p:nvPr/>
        </p:nvSpPr>
        <p:spPr>
          <a:xfrm>
            <a:off x="914400" y="2286000"/>
            <a:ext cx="7315200" cy="137160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Kernel Sentinel: A High-Performance System Auditing &amp; Monitoring Engine</a:t>
            </a:r>
            <a:endParaRPr lang="en-US" sz="4400" dirty="0"/>
          </a:p>
        </p:txBody>
      </p:sp>
      <p:sp>
        <p:nvSpPr>
          <p:cNvPr id="2" name="Rectangle 1">
            <a:extLst>
              <a:ext uri="{FF2B5EF4-FFF2-40B4-BE49-F238E27FC236}">
                <a16:creationId xmlns:a16="http://schemas.microsoft.com/office/drawing/2014/main" id="{274E4703-1808-0907-160E-545504DB711D}"/>
              </a:ext>
            </a:extLst>
          </p:cNvPr>
          <p:cNvSpPr/>
          <p:nvPr/>
        </p:nvSpPr>
        <p:spPr>
          <a:xfrm>
            <a:off x="7403522" y="4779818"/>
            <a:ext cx="1813214" cy="36368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Group Members</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a:lnSpc>
                <a:spcPts val="3200"/>
              </a:lnSpc>
              <a:buSzPct val="100000"/>
            </a:pPr>
            <a:endParaRPr lang="en-US" sz="2000" dirty="0"/>
          </a:p>
        </p:txBody>
      </p:sp>
      <p:sp>
        <p:nvSpPr>
          <p:cNvPr id="2" name="Rectangle 1">
            <a:extLst>
              <a:ext uri="{FF2B5EF4-FFF2-40B4-BE49-F238E27FC236}">
                <a16:creationId xmlns:a16="http://schemas.microsoft.com/office/drawing/2014/main" id="{016B968E-C736-C61B-031E-5F6E7D05B437}"/>
              </a:ext>
            </a:extLst>
          </p:cNvPr>
          <p:cNvSpPr/>
          <p:nvPr/>
        </p:nvSpPr>
        <p:spPr>
          <a:xfrm>
            <a:off x="7356762" y="4623954"/>
            <a:ext cx="1787237" cy="5195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EAE79259-C09D-B354-5D0D-7B18A6C954D7}"/>
              </a:ext>
            </a:extLst>
          </p:cNvPr>
          <p:cNvGraphicFramePr>
            <a:graphicFrameLocks noGrp="1"/>
          </p:cNvGraphicFramePr>
          <p:nvPr>
            <p:extLst>
              <p:ext uri="{D42A27DB-BD31-4B8C-83A1-F6EECF244321}">
                <p14:modId xmlns:p14="http://schemas.microsoft.com/office/powerpoint/2010/main" val="3800723984"/>
              </p:ext>
            </p:extLst>
          </p:nvPr>
        </p:nvGraphicFramePr>
        <p:xfrm>
          <a:off x="1440872" y="1905693"/>
          <a:ext cx="6096000" cy="17526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74765459"/>
                    </a:ext>
                  </a:extLst>
                </a:gridCol>
                <a:gridCol w="3048000">
                  <a:extLst>
                    <a:ext uri="{9D8B030D-6E8A-4147-A177-3AD203B41FA5}">
                      <a16:colId xmlns:a16="http://schemas.microsoft.com/office/drawing/2014/main" val="2653606724"/>
                    </a:ext>
                  </a:extLst>
                </a:gridCol>
              </a:tblGrid>
              <a:tr h="370840">
                <a:tc>
                  <a:txBody>
                    <a:bodyPr/>
                    <a:lstStyle/>
                    <a:p>
                      <a:r>
                        <a:rPr lang="en-US" dirty="0"/>
                        <a:t>Student</a:t>
                      </a:r>
                    </a:p>
                  </a:txBody>
                  <a:tcPr/>
                </a:tc>
                <a:tc>
                  <a:txBody>
                    <a:bodyPr/>
                    <a:lstStyle/>
                    <a:p>
                      <a:r>
                        <a:rPr lang="en-US" dirty="0"/>
                        <a:t>Registration number</a:t>
                      </a:r>
                    </a:p>
                  </a:txBody>
                  <a:tcPr/>
                </a:tc>
                <a:extLst>
                  <a:ext uri="{0D108BD9-81ED-4DB2-BD59-A6C34878D82A}">
                    <a16:rowId xmlns:a16="http://schemas.microsoft.com/office/drawing/2014/main" val="3265286260"/>
                  </a:ext>
                </a:extLst>
              </a:tr>
              <a:tr h="370840">
                <a:tc>
                  <a:txBody>
                    <a:bodyPr/>
                    <a:lstStyle/>
                    <a:p>
                      <a:r>
                        <a:rPr lang="en-US" dirty="0"/>
                        <a:t>Rayyan Mustafa</a:t>
                      </a:r>
                    </a:p>
                  </a:txBody>
                  <a:tcPr/>
                </a:tc>
                <a:tc>
                  <a:txBody>
                    <a:bodyPr/>
                    <a:lstStyle/>
                    <a:p>
                      <a:r>
                        <a:rPr lang="en-US" dirty="0"/>
                        <a:t>2312335</a:t>
                      </a:r>
                    </a:p>
                  </a:txBody>
                  <a:tcPr/>
                </a:tc>
                <a:extLst>
                  <a:ext uri="{0D108BD9-81ED-4DB2-BD59-A6C34878D82A}">
                    <a16:rowId xmlns:a16="http://schemas.microsoft.com/office/drawing/2014/main" val="4254687248"/>
                  </a:ext>
                </a:extLst>
              </a:tr>
              <a:tr h="370840">
                <a:tc>
                  <a:txBody>
                    <a:bodyPr/>
                    <a:lstStyle/>
                    <a:p>
                      <a:r>
                        <a:rPr lang="en-US" dirty="0"/>
                        <a:t>Aaqib </a:t>
                      </a:r>
                    </a:p>
                  </a:txBody>
                  <a:tcPr/>
                </a:tc>
                <a:tc>
                  <a:txBody>
                    <a:bodyPr/>
                    <a:lstStyle/>
                    <a:p>
                      <a:r>
                        <a:rPr lang="en-US" dirty="0"/>
                        <a:t>2312468</a:t>
                      </a:r>
                    </a:p>
                  </a:txBody>
                  <a:tcPr/>
                </a:tc>
                <a:extLst>
                  <a:ext uri="{0D108BD9-81ED-4DB2-BD59-A6C34878D82A}">
                    <a16:rowId xmlns:a16="http://schemas.microsoft.com/office/drawing/2014/main" val="2422191825"/>
                  </a:ext>
                </a:extLst>
              </a:tr>
              <a:tr h="370840">
                <a:tc>
                  <a:txBody>
                    <a:bodyPr/>
                    <a:lstStyle/>
                    <a:p>
                      <a:r>
                        <a:rPr lang="en-US" dirty="0"/>
                        <a:t>Najam Uddin </a:t>
                      </a:r>
                      <a:r>
                        <a:rPr lang="en-US" dirty="0" err="1" smtClean="0"/>
                        <a:t>Chandio</a:t>
                      </a:r>
                      <a:endParaRPr lang="en-US" dirty="0"/>
                    </a:p>
                    <a:p>
                      <a:r>
                        <a:rPr lang="en-US" dirty="0" err="1" smtClean="0"/>
                        <a:t>Umair</a:t>
                      </a:r>
                      <a:endParaRPr lang="en-US" dirty="0" smtClean="0"/>
                    </a:p>
                  </a:txBody>
                  <a:tcPr/>
                </a:tc>
                <a:tc>
                  <a:txBody>
                    <a:bodyPr/>
                    <a:lstStyle/>
                    <a:p>
                      <a:r>
                        <a:rPr lang="en-US" dirty="0" smtClean="0"/>
                        <a:t>23108133</a:t>
                      </a:r>
                    </a:p>
                    <a:p>
                      <a:r>
                        <a:rPr lang="en-US" smtClean="0"/>
                        <a:t>2312341</a:t>
                      </a:r>
                      <a:endParaRPr lang="en-US" dirty="0"/>
                    </a:p>
                  </a:txBody>
                  <a:tcPr/>
                </a:tc>
                <a:extLst>
                  <a:ext uri="{0D108BD9-81ED-4DB2-BD59-A6C34878D82A}">
                    <a16:rowId xmlns:a16="http://schemas.microsoft.com/office/drawing/2014/main" val="373064197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3CC02-6B32-ED0D-853C-0872C66D9CF0}"/>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04CF555-9C91-5601-E6F0-CF2FE0ED89AA}"/>
              </a:ext>
            </a:extLst>
          </p:cNvPr>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The Problem: The "Black Box" Operating System</a:t>
            </a:r>
            <a:endParaRPr lang="en-US" sz="3200" dirty="0"/>
          </a:p>
        </p:txBody>
      </p:sp>
      <p:sp>
        <p:nvSpPr>
          <p:cNvPr id="4" name="Text 1">
            <a:extLst>
              <a:ext uri="{FF2B5EF4-FFF2-40B4-BE49-F238E27FC236}">
                <a16:creationId xmlns:a16="http://schemas.microsoft.com/office/drawing/2014/main" id="{FFBAAF51-21E3-4358-F100-26A6DD840CC5}"/>
              </a:ext>
            </a:extLst>
          </p:cNvPr>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Lack of visibility into low-level OS operations.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Difficulty in diagnosing performance bottlenecks and resource contention.</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Traditional tools operate too far from the kernel.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Vulnerability to resource exhaustion attacks (e.g., Fork Bombs).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Stealthy malicious activities like ransomware file I/O are hard to detect in real-time.</a:t>
            </a:r>
            <a:endParaRPr lang="en-US" sz="2000" dirty="0"/>
          </a:p>
        </p:txBody>
      </p:sp>
      <p:sp>
        <p:nvSpPr>
          <p:cNvPr id="2" name="Rectangle 1">
            <a:extLst>
              <a:ext uri="{FF2B5EF4-FFF2-40B4-BE49-F238E27FC236}">
                <a16:creationId xmlns:a16="http://schemas.microsoft.com/office/drawing/2014/main" id="{95081F08-B090-8E5B-403B-E52DEFCAA194}"/>
              </a:ext>
            </a:extLst>
          </p:cNvPr>
          <p:cNvSpPr/>
          <p:nvPr/>
        </p:nvSpPr>
        <p:spPr>
          <a:xfrm>
            <a:off x="7356762" y="4623954"/>
            <a:ext cx="1787237" cy="5195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998791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Our Solution: Kernel Sentinel</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A low-level 'flight recorder' for the Linux kernel.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Directly intercepts and analyzes system calls using `</a:t>
            </a:r>
            <a:r>
              <a:rPr lang="en-US" sz="2000" dirty="0" err="1">
                <a:solidFill>
                  <a:srgbClr val="334155"/>
                </a:solidFill>
                <a:latin typeface="Arial" pitchFamily="34" charset="0"/>
                <a:ea typeface="Arial" pitchFamily="34" charset="-122"/>
                <a:cs typeface="Arial" pitchFamily="34" charset="-120"/>
              </a:rPr>
              <a:t>ptrace</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Proactively detects anomalies like fork bombs and mass file writes.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Provides real-time telemetry to a concurrent, non-blocking dashboard.</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Built to be thread-safe, deadlock-free, and high-performance.</a:t>
            </a:r>
            <a:endParaRPr lang="en-US" sz="2000" dirty="0"/>
          </a:p>
        </p:txBody>
      </p:sp>
      <p:sp>
        <p:nvSpPr>
          <p:cNvPr id="5" name="Rectangle 4">
            <a:extLst>
              <a:ext uri="{FF2B5EF4-FFF2-40B4-BE49-F238E27FC236}">
                <a16:creationId xmlns:a16="http://schemas.microsoft.com/office/drawing/2014/main" id="{D2DBE81B-532B-9A3B-FA54-A644053CD2DB}"/>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Core Technologies &amp; OS Concepts</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Language: C for low-level control.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Tracing: </a:t>
            </a:r>
            <a:r>
              <a:rPr lang="en-US" sz="2000" dirty="0" err="1">
                <a:solidFill>
                  <a:srgbClr val="334155"/>
                </a:solidFill>
                <a:latin typeface="Arial" pitchFamily="34" charset="0"/>
                <a:ea typeface="Arial" pitchFamily="34" charset="-122"/>
                <a:cs typeface="Arial" pitchFamily="34" charset="-120"/>
              </a:rPr>
              <a:t>ptrace</a:t>
            </a:r>
            <a:r>
              <a:rPr lang="en-US" sz="2000" dirty="0">
                <a:solidFill>
                  <a:srgbClr val="334155"/>
                </a:solidFill>
                <a:latin typeface="Arial" pitchFamily="34" charset="0"/>
                <a:ea typeface="Arial" pitchFamily="34" charset="-122"/>
                <a:cs typeface="Arial" pitchFamily="34" charset="-120"/>
              </a:rPr>
              <a:t>` for system call interception.</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Concurrency: POSIX Threads (</a:t>
            </a:r>
            <a:r>
              <a:rPr lang="en-US" sz="2000" dirty="0" err="1">
                <a:solidFill>
                  <a:srgbClr val="334155"/>
                </a:solidFill>
                <a:latin typeface="Arial" pitchFamily="34" charset="0"/>
                <a:ea typeface="Arial" pitchFamily="34" charset="-122"/>
                <a:cs typeface="Arial" pitchFamily="34" charset="-120"/>
              </a:rPr>
              <a:t>pthreads</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Synchronization: Mutexes and Semaphores.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IPC: Named Pipes (</a:t>
            </a:r>
            <a:r>
              <a:rPr lang="en-US" sz="2000" dirty="0" err="1">
                <a:solidFill>
                  <a:srgbClr val="334155"/>
                </a:solidFill>
                <a:latin typeface="Arial" pitchFamily="34" charset="0"/>
                <a:ea typeface="Arial" pitchFamily="34" charset="-122"/>
                <a:cs typeface="Arial" pitchFamily="34" charset="-120"/>
              </a:rPr>
              <a:t>mkfifo</a:t>
            </a:r>
            <a:r>
              <a:rPr lang="en-US" sz="2000" dirty="0">
                <a:solidFill>
                  <a:srgbClr val="334155"/>
                </a:solidFill>
                <a:latin typeface="Arial" pitchFamily="34" charset="0"/>
                <a:ea typeface="Arial" pitchFamily="34" charset="-122"/>
                <a:cs typeface="Arial" pitchFamily="34" charset="-120"/>
              </a:rPr>
              <a:t>).</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Environment: Linux / Ubuntu (via WSL).</a:t>
            </a:r>
            <a:endParaRPr lang="en-US" sz="2000" dirty="0"/>
          </a:p>
        </p:txBody>
      </p:sp>
      <p:sp>
        <p:nvSpPr>
          <p:cNvPr id="2" name="Rectangle 1">
            <a:extLst>
              <a:ext uri="{FF2B5EF4-FFF2-40B4-BE49-F238E27FC236}">
                <a16:creationId xmlns:a16="http://schemas.microsoft.com/office/drawing/2014/main" id="{6B265C44-AFFB-FF1E-130F-F4747D824035}"/>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Live Demo: Detecting a Fork Bomb</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Step 1: Launch the `./bin/dashboard` in Terminal 1.</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Step 2: Launch the `./bin/attack_forkbomb` simulation in Terminal 2.</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Step 3: The `Observer` attaches to the attack process. Result: The Dashboard immediately displays a `CRITICAL` alert.The alert identifies the PID and the exact nature of the threat: 'FORK BOMB DETECTED'.</a:t>
            </a:r>
            <a:endParaRPr lang="en-US" sz="2000" dirty="0"/>
          </a:p>
        </p:txBody>
      </p:sp>
      <p:sp>
        <p:nvSpPr>
          <p:cNvPr id="2" name="Rectangle 1">
            <a:extLst>
              <a:ext uri="{FF2B5EF4-FFF2-40B4-BE49-F238E27FC236}">
                <a16:creationId xmlns:a16="http://schemas.microsoft.com/office/drawing/2014/main" id="{CEDF771A-1D75-6883-F763-645BD3C10642}"/>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Results &amp; Impact</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Successfully built a functional, low-latency monitoring tool.</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Demonstrated proactive detection of simulated system attacks.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Provided deep, real-time observability into kernel-level events.</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Solved the Producer-Consumer problem in a real-world application.</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Validated strategies for thread synchronization and deadlock avoidance.</a:t>
            </a:r>
            <a:endParaRPr lang="en-US" sz="2000" dirty="0"/>
          </a:p>
        </p:txBody>
      </p:sp>
      <p:sp>
        <p:nvSpPr>
          <p:cNvPr id="2" name="Rectangle 1">
            <a:extLst>
              <a:ext uri="{FF2B5EF4-FFF2-40B4-BE49-F238E27FC236}">
                <a16:creationId xmlns:a16="http://schemas.microsoft.com/office/drawing/2014/main" id="{545CD90C-4383-C420-1344-A3D708C817D7}"/>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Real-World Significance</a:t>
            </a:r>
            <a:endParaRPr lang="en-US" sz="3200" dirty="0"/>
          </a:p>
        </p:txBody>
      </p:sp>
      <p:sp>
        <p:nvSpPr>
          <p:cNvPr id="4" name="Text 1"/>
          <p:cNvSpPr/>
          <p:nvPr/>
        </p:nvSpPr>
        <p:spPr>
          <a:xfrm>
            <a:off x="457200" y="1683326"/>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Cybersecurity: Foundation for an Intrusion Detection System (IDS) or Host-based EDR. </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System Monitoring: A powerful tool for performance profiling in Security Operations Centers (SOC).</a:t>
            </a:r>
          </a:p>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Debugging: Helps diagnose complex issues like deadlocks or resource starvation.</a:t>
            </a:r>
          </a:p>
        </p:txBody>
      </p:sp>
      <p:sp>
        <p:nvSpPr>
          <p:cNvPr id="2" name="Rectangle 1">
            <a:extLst>
              <a:ext uri="{FF2B5EF4-FFF2-40B4-BE49-F238E27FC236}">
                <a16:creationId xmlns:a16="http://schemas.microsoft.com/office/drawing/2014/main" id="{DF819C28-3690-9B32-BA65-FB4403A6372B}"/>
              </a:ext>
            </a:extLst>
          </p:cNvPr>
          <p:cNvSpPr/>
          <p:nvPr/>
        </p:nvSpPr>
        <p:spPr>
          <a:xfrm>
            <a:off x="7626927" y="4696691"/>
            <a:ext cx="1517073" cy="4468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457200" y="914400"/>
            <a:ext cx="8229600" cy="731520"/>
          </a:xfrm>
          <a:prstGeom prst="rect">
            <a:avLst/>
          </a:prstGeom>
          <a:noFill/>
          <a:ln/>
        </p:spPr>
        <p:txBody>
          <a:bodyPr wrap="square" rtlCol="0" anchor="ctr"/>
          <a:lstStyle/>
          <a:p>
            <a:pPr marL="0" indent="0">
              <a:buNone/>
            </a:pPr>
            <a:r>
              <a:rPr lang="en-US" sz="3200" b="1" dirty="0">
                <a:solidFill>
                  <a:srgbClr val="0F172A"/>
                </a:solidFill>
                <a:latin typeface="Arial" pitchFamily="34" charset="0"/>
                <a:ea typeface="Arial" pitchFamily="34" charset="-122"/>
                <a:cs typeface="Arial" pitchFamily="34" charset="-120"/>
              </a:rPr>
              <a:t>Conclusion</a:t>
            </a:r>
            <a:endParaRPr lang="en-US" sz="3200" dirty="0"/>
          </a:p>
        </p:txBody>
      </p:sp>
      <p:sp>
        <p:nvSpPr>
          <p:cNvPr id="4" name="Text 1"/>
          <p:cNvSpPr/>
          <p:nvPr/>
        </p:nvSpPr>
        <p:spPr>
          <a:xfrm>
            <a:off x="457200" y="1828800"/>
            <a:ext cx="8229600" cy="4114800"/>
          </a:xfrm>
          <a:prstGeom prst="rect">
            <a:avLst/>
          </a:prstGeom>
          <a:noFill/>
          <a:ln/>
        </p:spPr>
        <p:txBody>
          <a:bodyPr wrap="square" rtlCol="0" anchor="t"/>
          <a:lstStyle/>
          <a:p>
            <a:pPr marL="342900" indent="-342900">
              <a:lnSpc>
                <a:spcPts val="3200"/>
              </a:lnSpc>
              <a:buSzPct val="100000"/>
              <a:buChar char="•"/>
            </a:pPr>
            <a:r>
              <a:rPr lang="en-US" sz="2000" dirty="0">
                <a:solidFill>
                  <a:srgbClr val="334155"/>
                </a:solidFill>
                <a:latin typeface="Arial" pitchFamily="34" charset="0"/>
                <a:ea typeface="Arial" pitchFamily="34" charset="-122"/>
                <a:cs typeface="Arial" pitchFamily="34" charset="-120"/>
              </a:rPr>
              <a:t>Conclusion: Kernel Sentinel is a reliable, thread-safe diagnostic tool that provides critical insights into OS behavior.</a:t>
            </a:r>
          </a:p>
        </p:txBody>
      </p:sp>
      <p:sp>
        <p:nvSpPr>
          <p:cNvPr id="2" name="Rectangle 1">
            <a:extLst>
              <a:ext uri="{FF2B5EF4-FFF2-40B4-BE49-F238E27FC236}">
                <a16:creationId xmlns:a16="http://schemas.microsoft.com/office/drawing/2014/main" id="{2100D835-7A9A-020F-49D4-D2457BA3D4BF}"/>
              </a:ext>
            </a:extLst>
          </p:cNvPr>
          <p:cNvSpPr/>
          <p:nvPr/>
        </p:nvSpPr>
        <p:spPr>
          <a:xfrm>
            <a:off x="7595754" y="4665518"/>
            <a:ext cx="1548246" cy="47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835</Words>
  <Application>Microsoft Office PowerPoint</Application>
  <PresentationFormat>On-screen Show (16:9)</PresentationFormat>
  <Paragraphs>65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7</cp:revision>
  <dcterms:created xsi:type="dcterms:W3CDTF">2026-04-10T23:36:18Z</dcterms:created>
  <dcterms:modified xsi:type="dcterms:W3CDTF">2026-05-30T03:20:20Z</dcterms:modified>
</cp:coreProperties>
</file>